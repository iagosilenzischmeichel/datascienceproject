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1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3.png"/><Relationship Id="rId11" Type="http://schemas.openxmlformats.org/officeDocument/2006/relationships/image" Target="../media/image-4-11.png"/><Relationship Id="rId12" Type="http://schemas.openxmlformats.org/officeDocument/2006/relationships/image" Target="../media/image-4-3.png"/><Relationship Id="rId13" Type="http://schemas.openxmlformats.org/officeDocument/2006/relationships/image" Target="../media/image-4-13.png"/><Relationship Id="rId14" Type="http://schemas.openxmlformats.org/officeDocument/2006/relationships/image" Target="../media/image-4-3.png"/><Relationship Id="rId15" Type="http://schemas.openxmlformats.org/officeDocument/2006/relationships/image" Target="../media/image-4-15.png"/><Relationship Id="rId16" Type="http://schemas.openxmlformats.org/officeDocument/2006/relationships/image" Target="../media/image-4-3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3.png"/><Relationship Id="rId7" Type="http://schemas.openxmlformats.org/officeDocument/2006/relationships/image" Target="../media/image-15-1.png"/><Relationship Id="rId8" Type="http://schemas.openxmlformats.org/officeDocument/2006/relationships/image" Target="../media/image-15-8.png"/><Relationship Id="rId9" Type="http://schemas.openxmlformats.org/officeDocument/2006/relationships/image" Target="../media/image-15-2.png"/><Relationship Id="rId10" Type="http://schemas.openxmlformats.org/officeDocument/2006/relationships/image" Target="../media/image-15-1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1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3.png"/><Relationship Id="rId6" Type="http://schemas.openxmlformats.org/officeDocument/2006/relationships/image" Target="../media/image-22-6.png"/><Relationship Id="rId7" Type="http://schemas.openxmlformats.org/officeDocument/2006/relationships/image" Target="../media/image-22-3.png"/><Relationship Id="rId8" Type="http://schemas.openxmlformats.org/officeDocument/2006/relationships/image" Target="../media/image-22-8.png"/><Relationship Id="rId9" Type="http://schemas.openxmlformats.org/officeDocument/2006/relationships/image" Target="../media/image-22-3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3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8415" y="-1766621"/>
            <a:ext cx="4206240" cy="420624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4745736"/>
            <a:ext cx="3840480" cy="384048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· DATA SCIENCE PROJEKT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ein LSTM den Markt schlagen?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vollständiger Investmentprozess — von Marktdaten bis Paper Trading, getestet auf vier Aktienuniversen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540764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0"/>
            <a:ext cx="1540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90572" y="5029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0572" y="5029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ohne Nvidia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0540" y="5029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5029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Tech-Aktien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0508" y="50292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0508" y="502920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Non-Tech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217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haben wir dieses Projekt entwickelt?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60020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„Kann ein LSTM-Modell durch die Auswahl der wahrscheinlich stärksten Aktien den Markt langfristig schlagen?“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3" name="Image 1" descr="/tmp/deck/assets/icons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032504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reines ML-Experiment — ein vollständiger Investmentprozess von Daten bis Paper Trading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324612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39386" y="3447288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2" descr="/tmp/deck/assets/icons/listo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58" y="35661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9386" y="4032504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 auswählen, Portfolio bilden, gegen Benchmark vergleichen, unter echten Bedingungen testen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127797" y="324612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8965" y="3447288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1" name="Image 3" descr="/tmp/deck/assets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837" y="35661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28965" y="4032504"/>
            <a:ext cx="311292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eine ehrliche Antwort, keine Bestätigung einer Wunschvorstellung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Universen, um Zufall von echtem Muster zu unterscheiden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testen wir nicht nur ein Aktienportfolio?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4584" y="2057400"/>
            <a:ext cx="2578608" cy="3063240"/>
          </a:xfrm>
          <a:prstGeom prst="roundRect">
            <a:avLst>
              <a:gd name="adj" fmla="val 3546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69568" y="2350008"/>
            <a:ext cx="548640" cy="54864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84" y="24780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6024" y="31089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Tech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432408" y="353872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432408" y="35387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QQQ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37464" y="40233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unser Ansatz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typischen Tech-Sektor?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389224" y="2057400"/>
            <a:ext cx="2578608" cy="3063240"/>
          </a:xfrm>
          <a:prstGeom prst="roundRect">
            <a:avLst>
              <a:gd name="adj" fmla="val 3546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04208" y="2350008"/>
            <a:ext cx="548640" cy="54864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9" name="Image 2" descr="/tmp/deck/assets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224" y="247802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80664" y="31089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ohne Nvidia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267048" y="353872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67048" y="35387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QQQ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572104" y="40233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der Erfolg nur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einer einzigen Aktie?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23864" y="2057400"/>
            <a:ext cx="2578608" cy="3063240"/>
          </a:xfrm>
          <a:prstGeom prst="roundRect">
            <a:avLst>
              <a:gd name="adj" fmla="val 3546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38848" y="2350008"/>
            <a:ext cx="548640" cy="54864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6" name="Image 3" descr="/tmp/deck/assets/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864" y="247802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15304" y="31089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Tech-Aktien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101688" y="353872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01688" y="35387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QQQ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406744" y="40233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es auch bei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neueren Wachstumswerten?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9058504" y="2057400"/>
            <a:ext cx="2578608" cy="3063240"/>
          </a:xfrm>
          <a:prstGeom prst="roundRect">
            <a:avLst>
              <a:gd name="adj" fmla="val 3546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073488" y="2350008"/>
            <a:ext cx="548640" cy="548640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33" name="Image 4" descr="/tmp/deck/assets/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504" y="2478024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149944" y="31089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Non-Tech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936328" y="353872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936328" y="35387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SPY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9241384" y="4023360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das Modell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außerhalb von Tech?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Code, gleiche Features, gleiches Training — nur Aktienliste &amp; Benchmark unterscheiden sich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MACHINE-LEARNING-MODELL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durchgängiger Prozess von Marktdaten bis Paper Trading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funktioniert unser System Schritt für Schritt?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02056" y="17830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43888" y="1947672"/>
            <a:ext cx="493776" cy="493776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60" y="2066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5208" y="25877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250" dirty="0"/>
          </a:p>
        </p:txBody>
      </p:sp>
      <p:pic>
        <p:nvPicPr>
          <p:cNvPr id="14" name="Image 2" descr="/tmp/deck/assets/icons/arrowright_2F6B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504" y="2478024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72104" y="17830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13936" y="1947672"/>
            <a:ext cx="493776" cy="493776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3" descr="/tmp/deck/assets/icons/slid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08" y="206654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45256" y="25877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pic>
        <p:nvPicPr>
          <p:cNvPr id="19" name="Image 4" descr="/tmp/deck/assets/icons/arrowright_2F6B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552" y="2478024"/>
            <a:ext cx="164592" cy="16459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42152" y="17830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183984" y="1947672"/>
            <a:ext cx="493776" cy="493776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2" name="Image 5" descr="/tmp/deck/assets/icons/brai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856" y="206654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15304" y="25877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pic>
        <p:nvPicPr>
          <p:cNvPr id="24" name="Image 6" descr="/tmp/deck/assets/icons/arrowright_2F6B9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600" y="2478024"/>
            <a:ext cx="164592" cy="16459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912200" y="17830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9854032" y="1947672"/>
            <a:ext cx="493776" cy="493776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7" name="Image 7" descr="/tmp/deck/assets/icons/chartlin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904" y="2066544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985352" y="25877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lichkeit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902056" y="3611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1843888" y="3776472"/>
            <a:ext cx="493776" cy="493776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1" name="Image 8" descr="/tmp/deck/assets/icons/listol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760" y="3895344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5208" y="44165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Auswahl</a:t>
            </a:r>
            <a:endParaRPr lang="en-US" sz="1250" dirty="0"/>
          </a:p>
        </p:txBody>
      </p:sp>
      <p:pic>
        <p:nvPicPr>
          <p:cNvPr id="33" name="Image 9" descr="/tmp/deck/assets/icons/arrowright_2F6B9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504" y="4306824"/>
            <a:ext cx="164592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3572104" y="3611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4513936" y="3776472"/>
            <a:ext cx="493776" cy="49377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36" name="Image 10" descr="/tmp/deck/assets/icons/history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2808" y="3895344"/>
            <a:ext cx="256032" cy="25603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645256" y="44165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50" dirty="0"/>
          </a:p>
        </p:txBody>
      </p:sp>
      <p:pic>
        <p:nvPicPr>
          <p:cNvPr id="38" name="Image 11" descr="/tmp/deck/assets/icons/arrowright_2F6B9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3552" y="4306824"/>
            <a:ext cx="164592" cy="164592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6242152" y="3611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40" name="Shape 26"/>
          <p:cNvSpPr/>
          <p:nvPr/>
        </p:nvSpPr>
        <p:spPr>
          <a:xfrm>
            <a:off x="7183984" y="3776472"/>
            <a:ext cx="493776" cy="49377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41" name="Image 12" descr="/tmp/deck/assets/icons/calendarday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2856" y="3895344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315304" y="44165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250" dirty="0"/>
          </a:p>
        </p:txBody>
      </p:sp>
      <p:pic>
        <p:nvPicPr>
          <p:cNvPr id="43" name="Image 13" descr="/tmp/deck/assets/icons/arrowright_2F6B9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3600" y="4306824"/>
            <a:ext cx="164592" cy="164592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8912200" y="3611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45" name="Shape 29"/>
          <p:cNvSpPr/>
          <p:nvPr/>
        </p:nvSpPr>
        <p:spPr>
          <a:xfrm>
            <a:off x="9854032" y="3776472"/>
            <a:ext cx="493776" cy="49377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46" name="Image 14" descr="/tmp/deck/assets/icons/bolt_FFFF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72904" y="3895344"/>
            <a:ext cx="256032" cy="256032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8985352" y="441655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250" dirty="0"/>
          </a:p>
        </p:txBody>
      </p:sp>
      <p:pic>
        <p:nvPicPr>
          <p:cNvPr id="48" name="Image 15" descr="/tmp/deck/assets/icons/arrowright_2F6B9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6013552" y="3401568"/>
            <a:ext cx="164592" cy="164592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letzten drei Schritte werden mit zunehmender Realitätsnähe durchlaufen — Backtest, Daily, Hourly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histo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 BACKTEST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Tech schlägt QQQ um +74,7 %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unser Modell historisch?</a:t>
            </a:r>
            <a:endParaRPr lang="en-US" sz="1350" dirty="0"/>
          </a:p>
        </p:txBody>
      </p:sp>
      <p:pic>
        <p:nvPicPr>
          <p:cNvPr id="10" name="Image 1" descr="/tmp/deck/assets/original_tech_back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67" y="1600200"/>
            <a:ext cx="9928762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524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438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+105,7 %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8438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Strategie-Rendite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242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156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+31,0 %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156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Benchmark-Rendite (QQQ)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960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874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+74,7 PP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7874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histo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 BACKTEST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ohne Nvidia schlägt QQQ um +16,2 %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unser Modell historisch?</a:t>
            </a:r>
            <a:endParaRPr lang="en-US" sz="1350" dirty="0"/>
          </a:p>
        </p:txBody>
      </p:sp>
      <p:pic>
        <p:nvPicPr>
          <p:cNvPr id="10" name="Image 1" descr="/tmp/deck/assets/tech_no_nvda_back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52" y="1600200"/>
            <a:ext cx="9880192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524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438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+47,2 %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8438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Strategie-Rendite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242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156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+31,0 %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156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Benchmark-Rendite (QQQ)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960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874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+16,2 PP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7874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histo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 BACKTEST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Tech-Aktien bleibt 7,5 % hinter QQQ zurück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unser Modell historisch?</a:t>
            </a:r>
            <a:endParaRPr lang="en-US" sz="1350" dirty="0"/>
          </a:p>
        </p:txBody>
      </p:sp>
      <p:pic>
        <p:nvPicPr>
          <p:cNvPr id="10" name="Image 1" descr="/tmp/deck/assets/new_tech_back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59" y="1600200"/>
            <a:ext cx="9834178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524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438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+23,5 %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8438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Strategie-Rendite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242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156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+31,0 %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156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Benchmark-Rendite (QQQ)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960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874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−7,5 PP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7874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histo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 BACKTEST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Non-Tech liegt nahezu gleichauf mit SPY (−0,7 %)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unser Modell historisch?</a:t>
            </a:r>
            <a:endParaRPr lang="en-US" sz="1350" dirty="0"/>
          </a:p>
        </p:txBody>
      </p:sp>
      <p:pic>
        <p:nvPicPr>
          <p:cNvPr id="10" name="Image 1" descr="/tmp/deck/assets/defensive_non_tech_back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59" y="1600200"/>
            <a:ext cx="9834178" cy="3977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524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438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D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+20,7 %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8438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Strategie-Rendite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242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156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+21,4 %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156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Benchmark-Rendite (SPY)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96048" y="5779008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87488" y="58704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−0,7 PP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787488" y="63276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ist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ANALYSE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Tech — wie viele Top-Aktien gehören ins Portfolio?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Top-1 mit +105,7 %</a:t>
            </a:r>
            <a:endParaRPr lang="en-US" sz="1350" dirty="0"/>
          </a:p>
        </p:txBody>
      </p:sp>
      <p:pic>
        <p:nvPicPr>
          <p:cNvPr id="10" name="Image 1" descr="/tmp/deck/assets/original_tech_top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639" y="1600200"/>
            <a:ext cx="5528418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3" name="Image 2" descr="/tmp/deck/assets/icons/troph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675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Top-1 (+105,7 %)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38218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9386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3" descr="/tmp/deck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53675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9386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schlägt Top-5 um +37,5 PP — Konzentration zahlt sich aus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27797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28965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1" name="Image 4" descr="/tmp/deck/assets/icons/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536752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8965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Top-K-Stufe schlägt die Buy-and-Hold-Rendite (+55,7 %)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ist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ANALYSE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ohne Nvidia — wie viele Top-Aktien gehören ins Portfolio?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Top-5 mit +47,2 %</a:t>
            </a:r>
            <a:endParaRPr lang="en-US" sz="1350" dirty="0"/>
          </a:p>
        </p:txBody>
      </p:sp>
      <p:pic>
        <p:nvPicPr>
          <p:cNvPr id="10" name="Image 1" descr="/tmp/deck/assets/tech_no_nvda_top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58" y="1600200"/>
            <a:ext cx="5488780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3" name="Image 2" descr="/tmp/deck/assets/icons/troph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675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Top-5 (+47,2 %)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38218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9386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3" descr="/tmp/deck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53675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9386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schlägt Top-1 um +32,7 PP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27797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28965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1" name="Image 4" descr="/tmp/deck/assets/icons/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536752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8965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Streuung über mehr Aktien verbessert das Ergebnis deutlich — ohne NVDA lohnt sich Konzentration nicht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ist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ANALYSE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Tech-Aktien — wie viele Top-Aktien gehören ins Portfolio?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Top-2 mit +23,5 %</a:t>
            </a:r>
            <a:endParaRPr lang="en-US" sz="1350" dirty="0"/>
          </a:p>
        </p:txBody>
      </p:sp>
      <p:pic>
        <p:nvPicPr>
          <p:cNvPr id="10" name="Image 1" descr="/tmp/deck/assets/new_tech_top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58" y="1600200"/>
            <a:ext cx="5488780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3" name="Image 2" descr="/tmp/deck/assets/icons/troph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675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Top-2 (+23,5 %)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38218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9386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3" descr="/tmp/deck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53675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9386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sogar negativ (−4,5 %) — einzelne Wette zu riskant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27797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28965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1" name="Image 4" descr="/tmp/deck/assets/icons/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536752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8965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Top-K-Stufen bleiben unter der Buy-and-Hold-Rendite (+54,8 %)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ist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ANALYSE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Non-Tech — wie viele Top-Aktien gehören ins Portfolio?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Top-1 mit +20,7 %</a:t>
            </a:r>
            <a:endParaRPr lang="en-US" sz="1350" dirty="0"/>
          </a:p>
        </p:txBody>
      </p:sp>
      <p:pic>
        <p:nvPicPr>
          <p:cNvPr id="10" name="Image 1" descr="/tmp/deck/assets/defensive_non_tech_top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58" y="1600200"/>
            <a:ext cx="5488780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3" name="Image 2" descr="/tmp/deck/assets/icons/troph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675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Top-K: Top-1 (+20,7 %)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38218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9386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7" name="Image 3" descr="/tmp/deck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536752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9386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und Top-5 fast identisch — Portfoliogröße spielt kaum eine Rolle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27797" y="5047488"/>
            <a:ext cx="3515258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28965" y="5248656"/>
            <a:ext cx="457200" cy="457200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1" name="Image 4" descr="/tmp/deck/assets/icons/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536752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8965" y="583387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liegt bei +21,3 % — die Strategie erreicht nahezu Marktniveau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calendarda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schlägt sich das Modell im Daily Paper Trading?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Universen unter realitätsnahen Bedingungen, $250.000 Startkapital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2066166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" y="1874520"/>
            <a:ext cx="1956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Universum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14806" y="1874520"/>
            <a:ext cx="13475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3" name="Text 10"/>
          <p:cNvSpPr/>
          <p:nvPr/>
        </p:nvSpPr>
        <p:spPr>
          <a:xfrm>
            <a:off x="2669670" y="1874520"/>
            <a:ext cx="12377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Endkapital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62306" y="1874520"/>
            <a:ext cx="1437333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/>
          <p:nvPr/>
        </p:nvSpPr>
        <p:spPr>
          <a:xfrm>
            <a:off x="4017170" y="1874520"/>
            <a:ext cx="132760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 / Verlust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99639" y="1874520"/>
            <a:ext cx="1078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" name="Text 14"/>
          <p:cNvSpPr/>
          <p:nvPr/>
        </p:nvSpPr>
        <p:spPr>
          <a:xfrm>
            <a:off x="5454503" y="1874520"/>
            <a:ext cx="968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7639" y="1874520"/>
            <a:ext cx="1122917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6"/>
          <p:cNvSpPr/>
          <p:nvPr/>
        </p:nvSpPr>
        <p:spPr>
          <a:xfrm>
            <a:off x="6532503" y="1874520"/>
            <a:ext cx="1013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00556" y="1874520"/>
            <a:ext cx="1257667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1" name="Text 18"/>
          <p:cNvSpPr/>
          <p:nvPr/>
        </p:nvSpPr>
        <p:spPr>
          <a:xfrm>
            <a:off x="7655420" y="1874520"/>
            <a:ext cx="1147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858222" y="1874520"/>
            <a:ext cx="1392416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0"/>
          <p:cNvSpPr/>
          <p:nvPr/>
        </p:nvSpPr>
        <p:spPr>
          <a:xfrm>
            <a:off x="8913086" y="1874520"/>
            <a:ext cx="128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Benchmark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250639" y="1874520"/>
            <a:ext cx="1392416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5" name="Text 22"/>
          <p:cNvSpPr/>
          <p:nvPr/>
        </p:nvSpPr>
        <p:spPr>
          <a:xfrm>
            <a:off x="10305503" y="1874520"/>
            <a:ext cx="128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Buy &amp; Hold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2651760"/>
            <a:ext cx="206616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" y="2651760"/>
            <a:ext cx="19564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Tech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614806" y="2651760"/>
            <a:ext cx="13475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69670" y="2651760"/>
            <a:ext cx="12377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$242.392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3962306" y="2651760"/>
            <a:ext cx="1437333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17170" y="2651760"/>
            <a:ext cx="13276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−$7.608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399639" y="2651760"/>
            <a:ext cx="1078000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54503" y="2651760"/>
            <a:ext cx="968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−3,0 %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77639" y="2651760"/>
            <a:ext cx="1122917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32503" y="2651760"/>
            <a:ext cx="101318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+0,8 %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600556" y="2651760"/>
            <a:ext cx="1257667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55420" y="2651760"/>
            <a:ext cx="11479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+0,4 %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858222" y="2651760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13086" y="2651760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−3,4 PP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0250639" y="2651760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05503" y="2651760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−3,9 PP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48640" y="3547872"/>
            <a:ext cx="2066166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3504" y="3547872"/>
            <a:ext cx="19564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ohne Nvidia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2614806" y="3547872"/>
            <a:ext cx="1347500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669670" y="3547872"/>
            <a:ext cx="12377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$239.471</a:t>
            </a:r>
            <a:endParaRPr lang="en-US" sz="1450" dirty="0"/>
          </a:p>
        </p:txBody>
      </p:sp>
      <p:sp>
        <p:nvSpPr>
          <p:cNvPr id="46" name="Shape 43"/>
          <p:cNvSpPr/>
          <p:nvPr/>
        </p:nvSpPr>
        <p:spPr>
          <a:xfrm>
            <a:off x="3962306" y="3547872"/>
            <a:ext cx="1437333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017170" y="3547872"/>
            <a:ext cx="13276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−$10.529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5399639" y="3547872"/>
            <a:ext cx="1078000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54503" y="3547872"/>
            <a:ext cx="968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−4,2 %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6477639" y="3547872"/>
            <a:ext cx="1122917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32503" y="3547872"/>
            <a:ext cx="101318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+0,1 %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7600556" y="3547872"/>
            <a:ext cx="1257667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655420" y="3547872"/>
            <a:ext cx="11479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+0,4 %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8858222" y="3547872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13086" y="3547872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−4,6 PP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0250639" y="3547872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305503" y="3547872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−4,3 PP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548640" y="4443984"/>
            <a:ext cx="206616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03504" y="4443984"/>
            <a:ext cx="19564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Tech-Aktien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2614806" y="4443984"/>
            <a:ext cx="13475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669670" y="4443984"/>
            <a:ext cx="12377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$253.908</a:t>
            </a:r>
            <a:endParaRPr lang="en-US" sz="1450" dirty="0"/>
          </a:p>
        </p:txBody>
      </p:sp>
      <p:sp>
        <p:nvSpPr>
          <p:cNvPr id="62" name="Shape 59"/>
          <p:cNvSpPr/>
          <p:nvPr/>
        </p:nvSpPr>
        <p:spPr>
          <a:xfrm>
            <a:off x="3962306" y="4443984"/>
            <a:ext cx="1437333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017170" y="4443984"/>
            <a:ext cx="13276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+$3.908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5399639" y="4443984"/>
            <a:ext cx="1078000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454503" y="4443984"/>
            <a:ext cx="968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+1,6 %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6477639" y="4443984"/>
            <a:ext cx="1122917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532503" y="4443984"/>
            <a:ext cx="101318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+1,1 %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7600556" y="4443984"/>
            <a:ext cx="1257667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655420" y="4443984"/>
            <a:ext cx="11479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+0,4 %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8858222" y="4443984"/>
            <a:ext cx="1392416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913086" y="4443984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+1,2 PP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10250639" y="4443984"/>
            <a:ext cx="1392416" cy="896112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305503" y="4443984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 PP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548640" y="5340096"/>
            <a:ext cx="2066166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03504" y="5340096"/>
            <a:ext cx="19564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Non-Tech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2614806" y="5340096"/>
            <a:ext cx="1347500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2669670" y="5340096"/>
            <a:ext cx="12377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$244.097</a:t>
            </a:r>
            <a:endParaRPr lang="en-US" sz="1450" dirty="0"/>
          </a:p>
        </p:txBody>
      </p:sp>
      <p:sp>
        <p:nvSpPr>
          <p:cNvPr id="78" name="Shape 75"/>
          <p:cNvSpPr/>
          <p:nvPr/>
        </p:nvSpPr>
        <p:spPr>
          <a:xfrm>
            <a:off x="3962306" y="5340096"/>
            <a:ext cx="1437333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017170" y="5340096"/>
            <a:ext cx="13276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−$5.903</a:t>
            </a:r>
            <a:endParaRPr lang="en-US" sz="1500" dirty="0"/>
          </a:p>
        </p:txBody>
      </p:sp>
      <p:sp>
        <p:nvSpPr>
          <p:cNvPr id="80" name="Shape 77"/>
          <p:cNvSpPr/>
          <p:nvPr/>
        </p:nvSpPr>
        <p:spPr>
          <a:xfrm>
            <a:off x="5399639" y="5340096"/>
            <a:ext cx="1078000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454503" y="5340096"/>
            <a:ext cx="968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−2,4 %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6477639" y="5340096"/>
            <a:ext cx="1122917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532503" y="5340096"/>
            <a:ext cx="101318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−0,5 %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7600556" y="5340096"/>
            <a:ext cx="1257667" cy="896112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655420" y="5340096"/>
            <a:ext cx="11479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+0,5 %</a:t>
            </a:r>
            <a:endParaRPr lang="en-US" sz="1500" dirty="0"/>
          </a:p>
        </p:txBody>
      </p:sp>
      <p:sp>
        <p:nvSpPr>
          <p:cNvPr id="86" name="Shape 83"/>
          <p:cNvSpPr/>
          <p:nvPr/>
        </p:nvSpPr>
        <p:spPr>
          <a:xfrm>
            <a:off x="8858222" y="5340096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913086" y="5340096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−2,8 PP</a:t>
            </a:r>
            <a:endParaRPr lang="en-US" sz="1500" dirty="0"/>
          </a:p>
        </p:txBody>
      </p:sp>
      <p:sp>
        <p:nvSpPr>
          <p:cNvPr id="88" name="Shape 85"/>
          <p:cNvSpPr/>
          <p:nvPr/>
        </p:nvSpPr>
        <p:spPr>
          <a:xfrm>
            <a:off x="10250639" y="5340096"/>
            <a:ext cx="1392416" cy="896112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0305503" y="5340096"/>
            <a:ext cx="12826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−1,9 PP</a:t>
            </a:r>
            <a:endParaRPr lang="en-US" sz="1500" dirty="0"/>
          </a:p>
        </p:txBody>
      </p:sp>
      <p:sp>
        <p:nvSpPr>
          <p:cNvPr id="90" name="Text 87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chartli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diese Ergebnisse im Daily Paper Trading?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steckt hinter den Zahlen der letzten Folie?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8028" y="19202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4060" y="23865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histo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2514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38148" y="202996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5 Handelstage — ein einzelner volatiler Tag dominiert das Gesamtergebnis.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55868" y="19202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1900" y="23865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6" name="Image 2" descr="/tmp/deck/assets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2514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15988" y="202996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07.07. fielen AMD und Intel um bis zu −9,7 %, deutlich mehr als der Gesamtmarkt (QQQ −1,9 %) — das erklärt den Großteil des Rückgangs bei Original Tech und Tech ohne Nvidia.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78028" y="367588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060" y="414223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0" name="Image 3" descr="/tmp/deck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6" y="4270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38148" y="378561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Universen nutzen einheitlich Top-3 Aktien statt des im Backtest jeweils besten Top-K, damit die Universen fair vergleichbar bleiben.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255868" y="367588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11900" y="414223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4" name="Image 4" descr="/tmp/deck/assets/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916" y="427024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15988" y="378561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Tech-Aktien und Defensive Non-Tech hielten andere, weniger betroffene Werte (u. a. Micron, Dell, Costco, AbbVie) und blieben dadurch stabiler.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kein Hourly Paper Trading?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bewusste methodische Entscheidung, keine Rechtfertigung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340968" y="16916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20544" y="1856232"/>
            <a:ext cx="475488" cy="47548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histo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416" y="197510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2408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350" dirty="0"/>
          </a:p>
        </p:txBody>
      </p:sp>
      <p:pic>
        <p:nvPicPr>
          <p:cNvPr id="14" name="Image 2" descr="/tmp/deck/assets/icons/arrowright_2F6B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84" y="2276856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78528" y="16916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F8A70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58104" y="18562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tmp/deck/assets/icons/calendarday_2F6B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197510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69968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Paper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202272" y="1563624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8A70"/>
            </a:solidFill>
            <a:prstDash val="solid"/>
          </a:ln>
        </p:spPr>
      </p:sp>
      <p:pic>
        <p:nvPicPr>
          <p:cNvPr id="20" name="Image 4" descr="/tmp/deck/assets/icons/check_1F8A7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136" y="1618488"/>
            <a:ext cx="256032" cy="256032"/>
          </a:xfrm>
          <a:prstGeom prst="rect">
            <a:avLst/>
          </a:prstGeom>
        </p:spPr>
      </p:pic>
      <p:pic>
        <p:nvPicPr>
          <p:cNvPr id="21" name="Image 5" descr="/tmp/deck/assets/icons/arrowright_2F6B9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4044" y="227685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016088" y="16916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1F1F1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16088" y="1691640"/>
            <a:ext cx="2834640" cy="1371600"/>
          </a:xfrm>
          <a:prstGeom prst="roundRect">
            <a:avLst>
              <a:gd name="adj" fmla="val 6667"/>
            </a:avLst>
          </a:prstGeom>
          <a:ln w="15875">
            <a:solidFill>
              <a:srgbClr val="C7CBD1"/>
            </a:solidFill>
            <a:prstDash val="dash"/>
          </a:ln>
        </p:spPr>
      </p:sp>
      <p:sp>
        <p:nvSpPr>
          <p:cNvPr id="24" name="Shape 16"/>
          <p:cNvSpPr/>
          <p:nvPr/>
        </p:nvSpPr>
        <p:spPr>
          <a:xfrm>
            <a:off x="9195664" y="1856232"/>
            <a:ext cx="475488" cy="475488"/>
          </a:xfrm>
          <a:prstGeom prst="ellipse">
            <a:avLst/>
          </a:prstGeom>
          <a:solidFill>
            <a:srgbClr val="AEB4BC"/>
          </a:solidFill>
          <a:ln/>
        </p:spPr>
      </p:sp>
      <p:pic>
        <p:nvPicPr>
          <p:cNvPr id="25" name="Image 6" descr="/tmp/deck/assets/icons/bol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4536" y="1975104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107528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8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Paper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8A8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8107528" y="3118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explorativ untersucht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678028" y="361188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934060" y="39867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0" name="Image 7" descr="/tmp/deck/assets/icons/warning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6" y="411480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638148" y="3721608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Deutlich höhere Transaktionskosten durch häufiges Rebalancing.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255868" y="361188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511900" y="39867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4" name="Image 8" descr="/tmp/deck/assets/icons/history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9916" y="411480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15988" y="3721608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kurze Beobachtungsdauer liefert keine belastbare Aussage.</a:t>
            </a:r>
            <a:endParaRPr lang="en-US" sz="1350" dirty="0"/>
          </a:p>
        </p:txBody>
      </p:sp>
      <p:sp>
        <p:nvSpPr>
          <p:cNvPr id="36" name="Shape 25"/>
          <p:cNvSpPr/>
          <p:nvPr/>
        </p:nvSpPr>
        <p:spPr>
          <a:xfrm>
            <a:off x="678028" y="5184648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934060" y="555955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8" name="Image 9" descr="/tmp/deck/assets/icons/bolt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076" y="5687568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638148" y="5294376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Handelsfrequenz erhöht Marktrauschen und Ausführungsrisiken.</a:t>
            </a:r>
            <a:endParaRPr lang="en-US" sz="1350" dirty="0"/>
          </a:p>
        </p:txBody>
      </p:sp>
      <p:sp>
        <p:nvSpPr>
          <p:cNvPr id="40" name="Shape 28"/>
          <p:cNvSpPr/>
          <p:nvPr/>
        </p:nvSpPr>
        <p:spPr>
          <a:xfrm>
            <a:off x="6255868" y="5184648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6511900" y="555955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42" name="Image 10" descr="/tmp/deck/assets/icons/check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9916" y="5687568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215988" y="5294376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der Evaluation liegt deshalb auf dem aussagekräftigeren Daily Paper Trading.</a:t>
            </a:r>
            <a:endParaRPr lang="en-US" sz="1350" dirty="0"/>
          </a:p>
        </p:txBody>
      </p:sp>
      <p:sp>
        <p:nvSpPr>
          <p:cNvPr id="44" name="Text 31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troph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Universum liefert die besten Ergebnisse?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Universen im direkten Vergleich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3728" y="2057400"/>
            <a:ext cx="3931920" cy="5486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/>
          <p:nvPr/>
        </p:nvSpPr>
        <p:spPr>
          <a:xfrm>
            <a:off x="609448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Universum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95648" y="2057400"/>
            <a:ext cx="3566160" cy="5486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41368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Backtest-Rendite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61808" y="2057400"/>
            <a:ext cx="3566160" cy="5486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/>
          <p:nvPr/>
        </p:nvSpPr>
        <p:spPr>
          <a:xfrm>
            <a:off x="8107528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 (Backtest)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3728" y="2606040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9448" y="2606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Tech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495648" y="260604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41368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+105,7 %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061808" y="260604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07528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+74,7 PP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563728" y="3474720"/>
            <a:ext cx="3931920" cy="868680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9448" y="3474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ohne Nvidia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495648" y="347472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41368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+47,2 %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8061808" y="347472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07528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+16,2 PP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563728" y="4343400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448" y="4343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Tech-Aktien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4495648" y="434340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41368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+23,5 %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8061808" y="4343400"/>
            <a:ext cx="3566160" cy="868680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07528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−7,5 PP</a:t>
            </a:r>
            <a:endParaRPr lang="en-US" sz="1550" dirty="0"/>
          </a:p>
        </p:txBody>
      </p:sp>
      <p:sp>
        <p:nvSpPr>
          <p:cNvPr id="34" name="Shape 31"/>
          <p:cNvSpPr/>
          <p:nvPr/>
        </p:nvSpPr>
        <p:spPr>
          <a:xfrm>
            <a:off x="563728" y="5212080"/>
            <a:ext cx="3931920" cy="868680"/>
          </a:xfrm>
          <a:prstGeom prst="rect">
            <a:avLst/>
          </a:prstGeom>
          <a:solidFill>
            <a:srgbClr val="F1F4F8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9448" y="5212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Non-Tech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4495648" y="5212080"/>
            <a:ext cx="3566160" cy="868680"/>
          </a:xfrm>
          <a:prstGeom prst="rect">
            <a:avLst/>
          </a:prstGeom>
          <a:solidFill>
            <a:srgbClr val="DCEEE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41368" y="5212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+20,7 %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8061808" y="5212080"/>
            <a:ext cx="3566160" cy="868680"/>
          </a:xfrm>
          <a:prstGeom prst="rect">
            <a:avLst/>
          </a:prstGeom>
          <a:solidFill>
            <a:srgbClr val="F7DED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07528" y="5212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−0,7 PP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548640" y="6355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zeigt starke Outperformance in Tech-Universen; unter realistischen Paper-Trading-Bedingungen schrumpft der Vorsprung deutlich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diese Unterschiede zwischen den Universen?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treibt die Ergebnisse hinter den Kulissen?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8028" y="19202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4060" y="23865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2514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38148" y="202996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Tech: Die enorme Backtest-Outperformance stammt vor allem von starken Kursgewinnen bei AMD und Intel im Testzeitraum.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55868" y="192024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1900" y="238658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6" name="Image 2" descr="/tmp/deck/assets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2514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15988" y="202996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ohne Nvidia: AMD und Intel treiben den Effekt auch ohne NVDA — ein Beleg, dass der Erfolg nicht an einer einzigen Aktie hängt.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78028" y="367588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060" y="414223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0" name="Image 3" descr="/tmp/deck/assets/icons/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6" y="4270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38148" y="378561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Tech-Aktien: Starke Konzentration auf Palantir und CrowdStrike; als beide im Juni korrigierten, schmolz die Backtest-Outperformance wieder zusammen.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255868" y="367588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11900" y="414223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4" name="Image 4" descr="/tmp/deck/assets/icons/sca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916" y="427024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15988" y="378561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Non-Tech: Geringere Volatilität im gesamten Sektor führt zu kleineren Ausschlägen — weder im Backtest noch im Paper Trading gibt es große Überraschungen.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 der Ergebnisse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243584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sind die Ergebnisse (noch) mit Vorsicht zu lesen?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802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4060" y="243230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histo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3814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basiert auf ca. 235 Handelstagen.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5586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1900" y="2432304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6" name="Image 2" descr="/tmp/deck/assets/icons/calendarda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25603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1598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umfasst bisher nur einen kurzen Testzeitraum.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7802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060" y="418795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0" name="Image 3" descr="/tmp/deck/assets/icons/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6" y="431596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3814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Backtest wurden keine Transaktionskosten oder Slippage berücksichtigt.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25586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11900" y="4187952"/>
            <a:ext cx="530352" cy="530352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4" name="Image 4" descr="/tmp/deck/assets/icons/rock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916" y="431596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1598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langfristige Validierung über weitere Marktphasen steht noch aus.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-1382573"/>
            <a:ext cx="3291840" cy="329184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248656"/>
            <a:ext cx="2926080" cy="292608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5" name="Image 0" descr="/tmp/deck/assets/icons/troph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 ERKENNTNISSE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bleibt am Ende hängen?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7802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4060" y="2432304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0" name="Image 1" descr="/tmp/deck/assets/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2560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3814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Outperformance-LSTM konnte in mehreren Aktienuniversen stabile Ergebnisse erzielen.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5586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11900" y="2432304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4" name="Image 2" descr="/tmp/deck/assets/icons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2560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598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entwickelte System funktioniert als vollständige End-to-End-Data-Science-Pipeline.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802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4060" y="4187952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8" name="Image 3" descr="/tmp/deck/assets/icons/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6" y="43159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3814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 und Hourly-Paper-Trading bestätigen die praktische Anwendbarkeit des Modells.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25586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11900" y="4187952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22" name="Image 4" descr="/tmp/deck/assets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916" y="43159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1598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Ergebnisse bilden eine solide Grundlage für zukünftige Weiterentwicklungen.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-1382573"/>
            <a:ext cx="3291840" cy="329184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248656"/>
            <a:ext cx="2926080" cy="292608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5" name="Image 0" descr="/tmp/deck/assets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haben wir aus dem Projekt gelernt?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7802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4060" y="2432304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0" name="Image 1" descr="/tmp/deck/assets/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6" y="2560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3814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 konnte das Modell den Benchmark in mehreren Universen schlagen.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55868" y="19659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11900" y="2432304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4" name="Image 2" descr="/tmp/deck/assets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2560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5988" y="2075688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realistischen Bedingungen sinkt die Performance deutlich.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802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4060" y="4187952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8" name="Image 3" descr="/tmp/deck/assets/icons/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76" y="43159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3814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zeigt Potenzial, benötigt jedoch längere Live-Tests.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255868" y="3721608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1B3A57"/>
          </a:solidFill>
          <a:ln w="12700">
            <a:solidFill>
              <a:srgbClr val="2C4C7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11900" y="4187952"/>
            <a:ext cx="530352" cy="53035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22" name="Image 4" descr="/tmp/deck/assets/icons/sca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916" y="43159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15988" y="3831336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Robustheit unterscheidet sich je nach Universum.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-1382573"/>
            <a:ext cx="3291840" cy="329184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248656"/>
            <a:ext cx="2926080" cy="292608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5" name="Image 0" descr="/tmp/deck/assets/icons/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Forschungsprojekt zum produktionsreifen Handelssystem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" y="2048256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6"/>
          <p:cNvSpPr/>
          <p:nvPr/>
        </p:nvSpPr>
        <p:spPr>
          <a:xfrm>
            <a:off x="969264" y="1901952"/>
            <a:ext cx="10490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Längeres Paper Trading über mehrere Monate statt weniger Handelstage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615184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1" name="Text 8"/>
          <p:cNvSpPr/>
          <p:nvPr/>
        </p:nvSpPr>
        <p:spPr>
          <a:xfrm>
            <a:off x="969264" y="2468880"/>
            <a:ext cx="10490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echtes, eigenständig trainiertes Hourly-Modell statt täglicher Granularität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3182112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3" name="Text 10"/>
          <p:cNvSpPr/>
          <p:nvPr/>
        </p:nvSpPr>
        <p:spPr>
          <a:xfrm>
            <a:off x="969264" y="3035808"/>
            <a:ext cx="10490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Transaktionskosten und Slippage in die Renditeberechnung einbeziehen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5" name="Text 12"/>
          <p:cNvSpPr/>
          <p:nvPr/>
        </p:nvSpPr>
        <p:spPr>
          <a:xfrm>
            <a:off x="969264" y="3602736"/>
            <a:ext cx="10490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Risikomanagement erweitern (Stop-Loss, Positionslimits, Diversifikation)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1520" y="431596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7" name="Text 14"/>
          <p:cNvSpPr/>
          <p:nvPr/>
        </p:nvSpPr>
        <p:spPr>
          <a:xfrm>
            <a:off x="969264" y="4169664"/>
            <a:ext cx="10490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Größere und breiter gestreute Aktienuniversen testen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für Ihre Aufmerksamkeit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-2148840"/>
            <a:ext cx="4114800" cy="4114800"/>
          </a:xfrm>
          <a:prstGeom prst="ellipse">
            <a:avLst/>
          </a:prstGeom>
          <a:solidFill>
            <a:srgbClr val="EAF2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566160" cy="3566160"/>
          </a:xfrm>
          <a:prstGeom prst="ellipse">
            <a:avLst/>
          </a:prstGeom>
          <a:solidFill>
            <a:srgbClr val="EAF6F0"/>
          </a:solidFill>
          <a:ln/>
        </p:spPr>
      </p:sp>
      <p:sp>
        <p:nvSpPr>
          <p:cNvPr id="4" name="Shape 2"/>
          <p:cNvSpPr/>
          <p:nvPr/>
        </p:nvSpPr>
        <p:spPr>
          <a:xfrm>
            <a:off x="5120512" y="5806440"/>
            <a:ext cx="1371600" cy="1371600"/>
          </a:xfrm>
          <a:prstGeom prst="ellipse">
            <a:avLst/>
          </a:prstGeom>
          <a:solidFill>
            <a:srgbClr val="F4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20624"/>
            <a:ext cx="512064" cy="512064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6" name="Image 0" descr="/tmp/deck/assets/icons/syn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394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6035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Technischer Überblick: vom Marktdatum zum Trade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43584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arbeitet unser System technisch?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12571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2" name="Image 1" descr="/tmp/deck/assets/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11" y="191109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Markt-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850" dirty="0"/>
          </a:p>
        </p:txBody>
      </p:sp>
      <p:pic>
        <p:nvPicPr>
          <p:cNvPr id="15" name="Image 2" descr="/tmp/deck/assets/icons/arrowright_2F6B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837" y="2336292"/>
            <a:ext cx="128016" cy="1280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425141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089072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18" name="Image 3" descr="/tmp/deck/assets/icons/slid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512" y="19110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80005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2461717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Momentum</a:t>
            </a:r>
            <a:endParaRPr lang="en-US" sz="850" dirty="0"/>
          </a:p>
        </p:txBody>
      </p:sp>
      <p:pic>
        <p:nvPicPr>
          <p:cNvPr id="21" name="Image 4" descr="/tmp/deck/assets/icons/arrowright_2F6B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338" y="2336292"/>
            <a:ext cx="128016" cy="12801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301642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965573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24" name="Image 5" descr="/tmp/deck/assets/icons/brai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013" y="19110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56506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Outperformance-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338218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Tage · 64 Units</a:t>
            </a:r>
            <a:endParaRPr lang="en-US" sz="850" dirty="0"/>
          </a:p>
        </p:txBody>
      </p:sp>
      <p:pic>
        <p:nvPicPr>
          <p:cNvPr id="27" name="Image 6" descr="/tmp/deck/assets/icons/arrowright_2F6B9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1840" y="2336292"/>
            <a:ext cx="128016" cy="128016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178144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6842074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0" name="Image 7" descr="/tmp/deck/assets/icons/trophy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514" y="191109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233008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Auswahl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6214720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 beste Aktien</a:t>
            </a:r>
            <a:endParaRPr lang="en-US" sz="850" dirty="0"/>
          </a:p>
        </p:txBody>
      </p:sp>
      <p:pic>
        <p:nvPicPr>
          <p:cNvPr id="33" name="Image 8" descr="/tmp/deck/assets/icons/arrowright_2F6B9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341" y="2336292"/>
            <a:ext cx="128016" cy="128016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8054645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8718575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36" name="Image 9" descr="/tmp/deck/assets/icons/calendarday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0015" y="1911096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109509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050" dirty="0"/>
          </a:p>
        </p:txBody>
      </p:sp>
      <p:sp>
        <p:nvSpPr>
          <p:cNvPr id="38" name="Text 26"/>
          <p:cNvSpPr/>
          <p:nvPr/>
        </p:nvSpPr>
        <p:spPr>
          <a:xfrm>
            <a:off x="8091221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Hourly</a:t>
            </a:r>
            <a:endParaRPr lang="en-US" sz="850" dirty="0"/>
          </a:p>
        </p:txBody>
      </p:sp>
      <p:pic>
        <p:nvPicPr>
          <p:cNvPr id="39" name="Image 10" descr="/tmp/deck/assets/icons/arrowright_2F6B9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842" y="2336292"/>
            <a:ext cx="128016" cy="12801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9931146" y="1691640"/>
            <a:ext cx="1711909" cy="1417320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41" name="Shape 28"/>
          <p:cNvSpPr/>
          <p:nvPr/>
        </p:nvSpPr>
        <p:spPr>
          <a:xfrm>
            <a:off x="10595077" y="1819656"/>
            <a:ext cx="384048" cy="384048"/>
          </a:xfrm>
          <a:prstGeom prst="ellipse">
            <a:avLst/>
          </a:prstGeom>
          <a:solidFill>
            <a:srgbClr val="2F6B9A"/>
          </a:solidFill>
          <a:ln/>
        </p:spPr>
      </p:sp>
      <p:pic>
        <p:nvPicPr>
          <p:cNvPr id="42" name="Image 11" descr="/tmp/deck/assets/icons/chartline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6517" y="1911096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9986010" y="2258568"/>
            <a:ext cx="1602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44" name="Text 30"/>
          <p:cNvSpPr/>
          <p:nvPr/>
        </p:nvSpPr>
        <p:spPr>
          <a:xfrm>
            <a:off x="9967722" y="2798064"/>
            <a:ext cx="1638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+ Alpaca</a:t>
            </a:r>
            <a:endParaRPr lang="en-US" sz="850" dirty="0"/>
          </a:p>
        </p:txBody>
      </p:sp>
      <p:sp>
        <p:nvSpPr>
          <p:cNvPr id="45" name="Shape 31"/>
          <p:cNvSpPr/>
          <p:nvPr/>
        </p:nvSpPr>
        <p:spPr>
          <a:xfrm>
            <a:off x="548640" y="3401568"/>
            <a:ext cx="351525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46" name="Shape 32"/>
          <p:cNvSpPr/>
          <p:nvPr/>
        </p:nvSpPr>
        <p:spPr>
          <a:xfrm>
            <a:off x="749808" y="3584448"/>
            <a:ext cx="402336" cy="40233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47" name="Image 12" descr="/tmp/deck/assets/icons/history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" y="3685032"/>
            <a:ext cx="201168" cy="20116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1261872" y="3584448"/>
            <a:ext cx="26191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Datensplit</a:t>
            </a:r>
            <a:endParaRPr lang="en-US" sz="1450" dirty="0"/>
          </a:p>
        </p:txBody>
      </p:sp>
      <p:sp>
        <p:nvSpPr>
          <p:cNvPr id="49" name="Shape 34"/>
          <p:cNvSpPr/>
          <p:nvPr/>
        </p:nvSpPr>
        <p:spPr>
          <a:xfrm>
            <a:off x="804672" y="427024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50" name="Text 35"/>
          <p:cNvSpPr/>
          <p:nvPr/>
        </p:nvSpPr>
        <p:spPr>
          <a:xfrm>
            <a:off x="1042416" y="412394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Training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804672" y="463600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52" name="Text 37"/>
          <p:cNvSpPr/>
          <p:nvPr/>
        </p:nvSpPr>
        <p:spPr>
          <a:xfrm>
            <a:off x="1042416" y="448970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Validation</a:t>
            </a:r>
            <a:endParaRPr lang="en-US" sz="1200" dirty="0"/>
          </a:p>
        </p:txBody>
      </p:sp>
      <p:sp>
        <p:nvSpPr>
          <p:cNvPr id="53" name="Shape 38"/>
          <p:cNvSpPr/>
          <p:nvPr/>
        </p:nvSpPr>
        <p:spPr>
          <a:xfrm>
            <a:off x="804672" y="500176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54" name="Text 39"/>
          <p:cNvSpPr/>
          <p:nvPr/>
        </p:nvSpPr>
        <p:spPr>
          <a:xfrm>
            <a:off x="1042416" y="485546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Test</a:t>
            </a:r>
            <a:endParaRPr lang="en-US" sz="1200" dirty="0"/>
          </a:p>
        </p:txBody>
      </p:sp>
      <p:sp>
        <p:nvSpPr>
          <p:cNvPr id="55" name="Shape 40"/>
          <p:cNvSpPr/>
          <p:nvPr/>
        </p:nvSpPr>
        <p:spPr>
          <a:xfrm>
            <a:off x="804672" y="536752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56" name="Text 41"/>
          <p:cNvSpPr/>
          <p:nvPr/>
        </p:nvSpPr>
        <p:spPr>
          <a:xfrm>
            <a:off x="1042416" y="522122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Chronologisch, kein Zufall</a:t>
            </a:r>
            <a:endParaRPr lang="en-US" sz="1200" dirty="0"/>
          </a:p>
        </p:txBody>
      </p:sp>
      <p:sp>
        <p:nvSpPr>
          <p:cNvPr id="57" name="Shape 42"/>
          <p:cNvSpPr/>
          <p:nvPr/>
        </p:nvSpPr>
        <p:spPr>
          <a:xfrm>
            <a:off x="4338218" y="3401568"/>
            <a:ext cx="351525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4539386" y="3584448"/>
            <a:ext cx="402336" cy="40233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59" name="Image 13" descr="/tmp/deck/assets/icons/check_FFFFF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9970" y="3685032"/>
            <a:ext cx="201168" cy="201168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5051450" y="3584448"/>
            <a:ext cx="26191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Validierung</a:t>
            </a:r>
            <a:endParaRPr lang="en-US" sz="1450" dirty="0"/>
          </a:p>
        </p:txBody>
      </p:sp>
      <p:sp>
        <p:nvSpPr>
          <p:cNvPr id="61" name="Shape 45"/>
          <p:cNvSpPr/>
          <p:nvPr/>
        </p:nvSpPr>
        <p:spPr>
          <a:xfrm>
            <a:off x="4594250" y="427024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2" name="Text 46"/>
          <p:cNvSpPr/>
          <p:nvPr/>
        </p:nvSpPr>
        <p:spPr>
          <a:xfrm>
            <a:off x="4831994" y="412394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Look-Ahead-Bias</a:t>
            </a:r>
            <a:endParaRPr lang="en-US" sz="1200" dirty="0"/>
          </a:p>
        </p:txBody>
      </p:sp>
      <p:sp>
        <p:nvSpPr>
          <p:cNvPr id="63" name="Shape 47"/>
          <p:cNvSpPr/>
          <p:nvPr/>
        </p:nvSpPr>
        <p:spPr>
          <a:xfrm>
            <a:off x="4594250" y="463600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4" name="Text 48"/>
          <p:cNvSpPr/>
          <p:nvPr/>
        </p:nvSpPr>
        <p:spPr>
          <a:xfrm>
            <a:off x="4831994" y="448970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nur auf Training</a:t>
            </a:r>
            <a:endParaRPr lang="en-US" sz="1200" dirty="0"/>
          </a:p>
        </p:txBody>
      </p:sp>
      <p:sp>
        <p:nvSpPr>
          <p:cNvPr id="65" name="Shape 49"/>
          <p:cNvSpPr/>
          <p:nvPr/>
        </p:nvSpPr>
        <p:spPr>
          <a:xfrm>
            <a:off x="4594250" y="500176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6" name="Text 50"/>
          <p:cNvSpPr/>
          <p:nvPr/>
        </p:nvSpPr>
        <p:spPr>
          <a:xfrm>
            <a:off x="4831994" y="485546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 (Seed 42)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8127797" y="3401568"/>
            <a:ext cx="351525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4C">
                <a:alpha val="9000"/>
              </a:srgbClr>
            </a:outerShdw>
          </a:effectLst>
        </p:spPr>
      </p:sp>
      <p:sp>
        <p:nvSpPr>
          <p:cNvPr id="68" name="Shape 52"/>
          <p:cNvSpPr/>
          <p:nvPr/>
        </p:nvSpPr>
        <p:spPr>
          <a:xfrm>
            <a:off x="8328965" y="3584448"/>
            <a:ext cx="402336" cy="402336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69" name="Image 14" descr="/tmp/deck/assets/icons/brain_FFFF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9549" y="3685032"/>
            <a:ext cx="201168" cy="201168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8841029" y="3584448"/>
            <a:ext cx="26191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</a:t>
            </a:r>
            <a:endParaRPr lang="en-US" sz="1450" dirty="0"/>
          </a:p>
        </p:txBody>
      </p:sp>
      <p:sp>
        <p:nvSpPr>
          <p:cNvPr id="71" name="Shape 54"/>
          <p:cNvSpPr/>
          <p:nvPr/>
        </p:nvSpPr>
        <p:spPr>
          <a:xfrm>
            <a:off x="8383829" y="427024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72" name="Text 55"/>
          <p:cNvSpPr/>
          <p:nvPr/>
        </p:nvSpPr>
        <p:spPr>
          <a:xfrm>
            <a:off x="8621573" y="412394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1 Schicht, 64 Units</a:t>
            </a:r>
            <a:endParaRPr lang="en-US" sz="1200" dirty="0"/>
          </a:p>
        </p:txBody>
      </p:sp>
      <p:sp>
        <p:nvSpPr>
          <p:cNvPr id="73" name="Shape 56"/>
          <p:cNvSpPr/>
          <p:nvPr/>
        </p:nvSpPr>
        <p:spPr>
          <a:xfrm>
            <a:off x="8383829" y="463600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74" name="Text 57"/>
          <p:cNvSpPr/>
          <p:nvPr/>
        </p:nvSpPr>
        <p:spPr>
          <a:xfrm>
            <a:off x="8621573" y="448970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Sequenz: 20 Handelstage</a:t>
            </a:r>
            <a:endParaRPr lang="en-US" sz="1200" dirty="0"/>
          </a:p>
        </p:txBody>
      </p:sp>
      <p:sp>
        <p:nvSpPr>
          <p:cNvPr id="75" name="Shape 58"/>
          <p:cNvSpPr/>
          <p:nvPr/>
        </p:nvSpPr>
        <p:spPr>
          <a:xfrm>
            <a:off x="8383829" y="500176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76" name="Text 59"/>
          <p:cNvSpPr/>
          <p:nvPr/>
        </p:nvSpPr>
        <p:spPr>
          <a:xfrm>
            <a:off x="8621573" y="485546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Epochen</a:t>
            </a:r>
            <a:endParaRPr lang="en-US" sz="1200" dirty="0"/>
          </a:p>
        </p:txBody>
      </p:sp>
      <p:sp>
        <p:nvSpPr>
          <p:cNvPr id="77" name="Shape 60"/>
          <p:cNvSpPr/>
          <p:nvPr/>
        </p:nvSpPr>
        <p:spPr>
          <a:xfrm>
            <a:off x="8383829" y="5367528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78" name="Text 61"/>
          <p:cNvSpPr/>
          <p:nvPr/>
        </p:nvSpPr>
        <p:spPr>
          <a:xfrm>
            <a:off x="8621573" y="5221224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Wahrscheinlichkeit</a:t>
            </a:r>
            <a:endParaRPr lang="en-US" sz="1200" dirty="0"/>
          </a:p>
        </p:txBody>
      </p:sp>
      <p:sp>
        <p:nvSpPr>
          <p:cNvPr id="79" name="Text 62"/>
          <p:cNvSpPr/>
          <p:nvPr/>
        </p:nvSpPr>
        <p:spPr>
          <a:xfrm>
            <a:off x="114144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2026-07-13T21:11:56Z</dcterms:created>
  <dcterms:modified xsi:type="dcterms:W3CDTF">2026-07-13T21:11:56Z</dcterms:modified>
</cp:coreProperties>
</file>